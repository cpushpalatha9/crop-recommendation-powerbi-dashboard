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7"/>
  </p:notesMasterIdLst>
  <p:sldIdLst>
    <p:sldId id="256" r:id="rId3"/>
    <p:sldId id="571" r:id="rId4"/>
    <p:sldId id="572" r:id="rId5"/>
    <p:sldId id="573" r:id="rId6"/>
    <p:sldId id="574" r:id="rId7"/>
    <p:sldId id="575" r:id="rId8"/>
    <p:sldId id="576" r:id="rId9"/>
    <p:sldId id="580" r:id="rId10"/>
    <p:sldId id="581" r:id="rId11"/>
    <p:sldId id="582"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54" d="100"/>
          <a:sy n="54" d="100"/>
        </p:scale>
        <p:origin x="106" y="68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2.jpg"/><Relationship Id="rId5" Type="http://schemas.openxmlformats.org/officeDocument/2006/relationships/hyperlink" Target="mailto:iyappan041987@gmail.com"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kaggle.com/datasets/siddharthss/crop-recommendation-dataset" TargetMode="External"/><Relationship Id="rId2" Type="http://schemas.openxmlformats.org/officeDocument/2006/relationships/hyperlink" Target="https://github.com/cpushpalatha9/Crop-Recommendation-PowerBI-Dashboard.git"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en-us/power-bi/" TargetMode="External"/><Relationship Id="rId2" Type="http://schemas.openxmlformats.org/officeDocument/2006/relationships/hyperlink" Target="https://www.kaggle.com/datasets/siddharthss/crop-recommendation-dataset"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80930"/>
            <a:ext cx="4746772" cy="2048070"/>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7500" b="1" kern="1200" dirty="0">
                <a:latin typeface="+mj-lt"/>
                <a:ea typeface="+mj-ea"/>
                <a:cs typeface="+mj-cs"/>
              </a:rPr>
              <a:t>CAPSTONE </a:t>
            </a:r>
            <a:r>
              <a:rPr lang="en-US" sz="7500" b="1" dirty="0"/>
              <a:t>PROJECT</a:t>
            </a:r>
            <a:endParaRPr lang="en-US" sz="7500" dirty="0">
              <a:latin typeface="Aptos"/>
            </a:endParaRPr>
          </a:p>
          <a:p>
            <a:pPr algn="l"/>
            <a:br>
              <a:rPr lang="en-US" sz="7500" b="1" dirty="0"/>
            </a:br>
            <a:r>
              <a:rPr lang="en-US" sz="7500" b="1" cap="all" dirty="0">
                <a:latin typeface="Aptos"/>
              </a:rPr>
              <a:t>Crop Recommendation and Climate Analysis using Power BI</a:t>
            </a:r>
            <a:endParaRPr lang="en-US" sz="75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639825" y="3620278"/>
            <a:ext cx="4656983" cy="2921101"/>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C PUSHPALATHA  </a:t>
            </a:r>
          </a:p>
          <a:p>
            <a:pPr algn="l">
              <a:spcAft>
                <a:spcPts val="600"/>
              </a:spcAft>
            </a:pPr>
            <a:r>
              <a:rPr lang="en-US" sz="1600" b="1" cap="all" dirty="0"/>
              <a:t>College Name:  </a:t>
            </a:r>
            <a:r>
              <a:rPr lang="en-US" sz="1600" b="1" dirty="0"/>
              <a:t>Justice Basheer Ahmed Sayeed  College For Women</a:t>
            </a:r>
            <a:endParaRPr lang="en-US" sz="1600" b="1" cap="all" dirty="0"/>
          </a:p>
          <a:p>
            <a:pPr algn="l">
              <a:spcAft>
                <a:spcPts val="600"/>
              </a:spcAft>
            </a:pPr>
            <a:r>
              <a:rPr lang="en-US" sz="1600" b="1" cap="all" dirty="0"/>
              <a:t>Department: </a:t>
            </a:r>
            <a:r>
              <a:rPr lang="en-US" sz="1600" b="1" cap="all" dirty="0" err="1"/>
              <a:t>mca</a:t>
            </a:r>
            <a:endParaRPr lang="en-US" sz="1600" b="1" cap="all" dirty="0"/>
          </a:p>
          <a:p>
            <a:pPr algn="l">
              <a:spcAft>
                <a:spcPts val="600"/>
              </a:spcAft>
            </a:pPr>
            <a:r>
              <a:rPr lang="en-US" sz="1600" b="1" cap="all" dirty="0"/>
              <a:t>Email ID: </a:t>
            </a:r>
            <a:r>
              <a:rPr lang="en-US" sz="1600" dirty="0">
                <a:hlinkClick r:id="rId5"/>
              </a:rPr>
              <a:t>iyappan041987@gmail.com</a:t>
            </a:r>
            <a:endParaRPr lang="en-US" sz="1600" dirty="0"/>
          </a:p>
          <a:p>
            <a:pPr algn="l">
              <a:spcAft>
                <a:spcPts val="600"/>
              </a:spcAft>
            </a:pPr>
            <a:r>
              <a:rPr lang="en-US" sz="1600" b="1" cap="all" dirty="0"/>
              <a:t>AICTE Internship Student Registration ID: </a:t>
            </a:r>
            <a:r>
              <a:rPr lang="en-US" sz="1600" cap="all" dirty="0"/>
              <a:t>STU</a:t>
            </a:r>
            <a:r>
              <a:rPr lang="en-US" sz="1600" dirty="0"/>
              <a:t>696132c929d891767977673</a:t>
            </a:r>
            <a:endParaRPr lang="en-US" sz="1600"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707279" y="963029"/>
            <a:ext cx="3996205"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1206944" cy="4251960"/>
          </a:xfrm>
        </p:spPr>
        <p:txBody>
          <a:bodyPr vert="horz" lIns="91440" tIns="45720" rIns="91440" bIns="45720" rtlCol="0">
            <a:normAutofit/>
          </a:bodyPr>
          <a:lstStyle/>
          <a:p>
            <a:pPr marL="0" indent="0" algn="just">
              <a:buNone/>
            </a:pPr>
            <a:r>
              <a:rPr lang="en-US" sz="2200" dirty="0">
                <a:latin typeface="Franklin Gothic Book"/>
              </a:rPr>
              <a:t>Agriculture productivity depends on several environmental factors such as temperature, rainfall, humidity, soil nutrients (Nitrogen, Phosphorus, Potassium), and soil </a:t>
            </a:r>
            <a:r>
              <a:rPr lang="en-US" sz="2200" dirty="0" err="1">
                <a:latin typeface="Franklin Gothic Book"/>
              </a:rPr>
              <a:t>pH.</a:t>
            </a:r>
            <a:r>
              <a:rPr lang="en-US" sz="2200" dirty="0">
                <a:latin typeface="Franklin Gothic Book"/>
              </a:rPr>
              <a:t>  Farmers often face difficulty in determining which crop is suitable for specific soil and climate conditions. Without proper data analysis, selecting the appropriate crop can lead to low productivity and inefficient resource utilization. Therefore, it is important to analyze environmental conditions and soil nutrients to support better crop selection.</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259633"/>
            <a:ext cx="10515600" cy="5533053"/>
          </a:xfrm>
        </p:spPr>
        <p:txBody>
          <a:bodyPr vert="horz" lIns="91440" tIns="45720" rIns="91440" bIns="45720" rtlCol="0" anchor="t">
            <a:noAutofit/>
          </a:bodyPr>
          <a:lstStyle/>
          <a:p>
            <a:pPr marL="305435" indent="-305435" algn="just">
              <a:spcBef>
                <a:spcPct val="20000"/>
              </a:spcBef>
              <a:spcAft>
                <a:spcPts val="600"/>
              </a:spcAft>
              <a:buFont typeface="Arial"/>
              <a:buChar char="•"/>
            </a:pPr>
            <a:r>
              <a:rPr lang="en-US" sz="1200" b="1" dirty="0">
                <a:latin typeface="Calibri"/>
                <a:ea typeface="Calibri"/>
                <a:cs typeface="Calibri"/>
              </a:rPr>
              <a:t>The proposed system aims to analyze agricultural data to understand how environmental factors influence crop suitability. By using data analytics and visualization techniques, the system helps identify relationships between soil nutrients, climate conditions, and different crop </a:t>
            </a:r>
            <a:r>
              <a:rPr lang="en-US" sz="1200" b="1" dirty="0" err="1">
                <a:latin typeface="Calibri"/>
                <a:ea typeface="Calibri"/>
                <a:cs typeface="Calibri"/>
              </a:rPr>
              <a:t>types.The</a:t>
            </a:r>
            <a:r>
              <a:rPr lang="en-US" sz="1200" b="1" dirty="0">
                <a:latin typeface="Calibri"/>
                <a:ea typeface="Calibri"/>
                <a:cs typeface="Calibri"/>
              </a:rPr>
              <a:t> solution consists of the following components:</a:t>
            </a:r>
          </a:p>
          <a:p>
            <a:pPr marL="305435" indent="-305435" algn="just">
              <a:spcBef>
                <a:spcPct val="20000"/>
              </a:spcBef>
              <a:spcAft>
                <a:spcPts val="600"/>
              </a:spcAft>
              <a:buFont typeface="Arial"/>
              <a:buChar char="•"/>
            </a:pPr>
            <a:r>
              <a:rPr lang="en-IN" sz="1200" b="1" dirty="0">
                <a:latin typeface="Calibri"/>
                <a:ea typeface="Calibri"/>
                <a:cs typeface="Calibri"/>
              </a:rPr>
              <a:t>Data Collection:</a:t>
            </a:r>
            <a:endParaRPr lang="en-IN" sz="1200" dirty="0">
              <a:latin typeface="Calibri"/>
              <a:ea typeface="Calibri"/>
              <a:cs typeface="Calibri"/>
            </a:endParaRPr>
          </a:p>
          <a:p>
            <a:pPr marL="629920" lvl="1" indent="-305435" algn="just">
              <a:spcBef>
                <a:spcPct val="20000"/>
              </a:spcBef>
              <a:spcAft>
                <a:spcPts val="600"/>
              </a:spcAft>
              <a:buFont typeface="Arial"/>
              <a:buChar char="•"/>
            </a:pPr>
            <a:r>
              <a:rPr lang="en-IN" sz="1200" b="1" dirty="0">
                <a:latin typeface="Calibri"/>
                <a:ea typeface="Calibri"/>
                <a:cs typeface="Calibri"/>
              </a:rPr>
              <a:t>Collect agricultural data containing environmental and soil parameters such as temperature, rainfall, humidity, soil nutrients (Nitrogen, Phosphorus, Potassium), and soil pH along with the corresponding crop types.</a:t>
            </a:r>
          </a:p>
          <a:p>
            <a:pPr marL="324485" lvl="1" indent="0" algn="just">
              <a:spcBef>
                <a:spcPct val="20000"/>
              </a:spcBef>
              <a:spcAft>
                <a:spcPts val="600"/>
              </a:spcAft>
              <a:buNone/>
            </a:pPr>
            <a:r>
              <a:rPr lang="en-IN" sz="1200" b="1" dirty="0">
                <a:latin typeface="Calibri"/>
                <a:ea typeface="Calibri"/>
                <a:cs typeface="Calibri"/>
              </a:rPr>
              <a:t>Data Preprocessing:</a:t>
            </a:r>
            <a:endParaRPr lang="en-IN" sz="1200" dirty="0">
              <a:latin typeface="Calibri"/>
              <a:ea typeface="Calibri"/>
              <a:cs typeface="Calibri"/>
            </a:endParaRPr>
          </a:p>
          <a:p>
            <a:pPr marL="629920" lvl="1" indent="-305435" algn="just">
              <a:spcBef>
                <a:spcPct val="20000"/>
              </a:spcBef>
              <a:spcAft>
                <a:spcPts val="600"/>
              </a:spcAft>
              <a:buFont typeface="Arial"/>
              <a:buChar char="•"/>
            </a:pPr>
            <a:r>
              <a:rPr lang="en-US" sz="1200" b="1" dirty="0">
                <a:latin typeface="Calibri"/>
                <a:ea typeface="Calibri"/>
                <a:cs typeface="Calibri"/>
              </a:rPr>
              <a:t>Clean and organize the dataset to ensure accurate analysis. This includes checking for missing values, verifying data consistency, and preparing the dataset for visualization and analysis</a:t>
            </a:r>
          </a:p>
          <a:p>
            <a:pPr marL="324485" lvl="1" indent="0" algn="just">
              <a:spcBef>
                <a:spcPct val="20000"/>
              </a:spcBef>
              <a:spcAft>
                <a:spcPts val="600"/>
              </a:spcAft>
              <a:buNone/>
            </a:pPr>
            <a:r>
              <a:rPr lang="en-US" sz="1200" b="1" dirty="0">
                <a:latin typeface="Calibri"/>
                <a:ea typeface="Calibri"/>
                <a:cs typeface="Calibri"/>
              </a:rPr>
              <a:t>Data Analysis</a:t>
            </a:r>
          </a:p>
          <a:p>
            <a:pPr marL="495935" lvl="1" indent="-171450" algn="just">
              <a:spcBef>
                <a:spcPct val="20000"/>
              </a:spcBef>
              <a:spcAft>
                <a:spcPts val="600"/>
              </a:spcAft>
            </a:pPr>
            <a:r>
              <a:rPr lang="en-US" sz="1200" b="1" dirty="0">
                <a:latin typeface="Calibri"/>
                <a:ea typeface="Calibri"/>
                <a:cs typeface="Calibri"/>
              </a:rPr>
              <a:t>Analyze the relationships between environmental factors and crop types to understand how climate and soil conditions affect crop growth.</a:t>
            </a:r>
          </a:p>
          <a:p>
            <a:pPr marL="324485" lvl="1" indent="0" algn="just">
              <a:spcBef>
                <a:spcPct val="20000"/>
              </a:spcBef>
              <a:spcAft>
                <a:spcPts val="600"/>
              </a:spcAft>
              <a:buNone/>
            </a:pPr>
            <a:r>
              <a:rPr lang="en-US" sz="1200" b="1" dirty="0">
                <a:latin typeface="Calibri"/>
                <a:ea typeface="Calibri"/>
                <a:cs typeface="Calibri"/>
              </a:rPr>
              <a:t>Data Visualization</a:t>
            </a:r>
          </a:p>
          <a:p>
            <a:pPr marL="495935" lvl="1" indent="-171450" algn="just">
              <a:spcBef>
                <a:spcPct val="20000"/>
              </a:spcBef>
              <a:spcAft>
                <a:spcPts val="600"/>
              </a:spcAft>
            </a:pPr>
            <a:r>
              <a:rPr lang="en-US" sz="1200" b="1" dirty="0">
                <a:latin typeface="Calibri"/>
                <a:ea typeface="Calibri"/>
                <a:cs typeface="Calibri"/>
              </a:rPr>
              <a:t>Use Power BI to create interactive dashboards and visualizations such as pie charts, bar charts, scatter plots, and KPI cards. These visualizations help users easily interpret the data and identify patterns in crop suitability.</a:t>
            </a:r>
          </a:p>
          <a:p>
            <a:pPr marL="324485" lvl="1" indent="0" algn="just">
              <a:spcBef>
                <a:spcPct val="20000"/>
              </a:spcBef>
              <a:spcAft>
                <a:spcPts val="600"/>
              </a:spcAft>
              <a:buNone/>
            </a:pPr>
            <a:r>
              <a:rPr lang="en-IN" sz="1200" b="1" dirty="0">
                <a:latin typeface="Calibri"/>
                <a:ea typeface="Calibri"/>
                <a:cs typeface="Calibri"/>
              </a:rPr>
              <a:t>Deployment:</a:t>
            </a:r>
            <a:endParaRPr lang="en-IN" sz="1200" dirty="0">
              <a:latin typeface="Calibri"/>
              <a:ea typeface="Calibri"/>
              <a:cs typeface="Calibri"/>
            </a:endParaRPr>
          </a:p>
          <a:p>
            <a:pPr marL="629920" lvl="1" indent="-305435" algn="just">
              <a:spcBef>
                <a:spcPct val="20000"/>
              </a:spcBef>
              <a:spcAft>
                <a:spcPts val="600"/>
              </a:spcAft>
              <a:buFont typeface="Arial"/>
              <a:buChar char="•"/>
            </a:pPr>
            <a:r>
              <a:rPr lang="en-US" sz="1200" b="1" dirty="0">
                <a:latin typeface="Calibri"/>
                <a:ea typeface="Calibri"/>
                <a:cs typeface="Calibri"/>
              </a:rPr>
              <a:t>Develop an interactive Power BI dashboard that allows users to explore crop-related data using filters and visual charts. The dashboard provides insights into temperature, rainfall, humidity, and soil nutrient requirements for different crops.</a:t>
            </a:r>
          </a:p>
          <a:p>
            <a:pPr marL="324485" lvl="1" indent="0" algn="just">
              <a:spcBef>
                <a:spcPct val="20000"/>
              </a:spcBef>
              <a:spcAft>
                <a:spcPts val="600"/>
              </a:spcAft>
              <a:buNone/>
            </a:pPr>
            <a:r>
              <a:rPr lang="en-IN" sz="1200" b="1" dirty="0">
                <a:latin typeface="Calibri"/>
                <a:ea typeface="Calibri"/>
                <a:cs typeface="Calibri"/>
              </a:rPr>
              <a:t>Evaluation:</a:t>
            </a:r>
            <a:endParaRPr lang="en-IN" sz="1200" dirty="0">
              <a:latin typeface="Calibri"/>
              <a:ea typeface="Calibri"/>
              <a:cs typeface="Calibri"/>
            </a:endParaRPr>
          </a:p>
          <a:p>
            <a:pPr marL="629920" lvl="1" indent="-305435" algn="just">
              <a:spcBef>
                <a:spcPct val="20000"/>
              </a:spcBef>
              <a:spcAft>
                <a:spcPts val="600"/>
              </a:spcAft>
              <a:buFont typeface="Arial"/>
              <a:buChar char="•"/>
            </a:pPr>
            <a:r>
              <a:rPr lang="en-US" sz="1200" b="1" dirty="0">
                <a:latin typeface="Calibri"/>
                <a:ea typeface="Calibri"/>
                <a:cs typeface="Calibri"/>
              </a:rPr>
              <a:t>Evaluate the effectiveness of the dashboard by analyzing how well the visualizations help in understanding crop suitability patterns and environmental dependencies. </a:t>
            </a:r>
            <a:r>
              <a:rPr lang="en-IN" sz="1200" b="1" dirty="0">
                <a:latin typeface="Calibri"/>
                <a:ea typeface="Calibri"/>
                <a:cs typeface="Calibri"/>
              </a:rPr>
              <a:t>Fine-tune the model based on feedback and continuous monitoring of prediction accuracy.</a:t>
            </a:r>
            <a:endParaRPr lang="en-IN" sz="1200" dirty="0">
              <a:latin typeface="Calibri"/>
              <a:ea typeface="Calibri"/>
              <a:cs typeface="Calibri"/>
            </a:endParaRPr>
          </a:p>
          <a:p>
            <a:pPr marL="324485" lvl="1" indent="0" algn="just">
              <a:spcBef>
                <a:spcPct val="20000"/>
              </a:spcBef>
              <a:spcAft>
                <a:spcPts val="600"/>
              </a:spcAft>
              <a:buNone/>
            </a:pPr>
            <a:r>
              <a:rPr lang="en-IN" sz="1200" dirty="0">
                <a:latin typeface="Franklin Gothic Book"/>
              </a:rPr>
              <a:t>Result:</a:t>
            </a:r>
          </a:p>
          <a:p>
            <a:pPr marL="629920" lvl="1" indent="-305435" algn="just">
              <a:spcBef>
                <a:spcPct val="20000"/>
              </a:spcBef>
              <a:spcAft>
                <a:spcPts val="600"/>
              </a:spcAft>
              <a:buFont typeface="Arial"/>
              <a:buChar char="•"/>
            </a:pPr>
            <a:r>
              <a:rPr lang="en-US" sz="1100" dirty="0"/>
              <a:t>The system generates an interactive Power BI dashboard that provides insights into crop distribution, environmental conditions, and soil nutrient requirements, supporting better decision-making in agriculture.</a:t>
            </a:r>
            <a:endParaRPr lang="en-GB" sz="11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fontScale="85000" lnSpcReduction="20000"/>
          </a:bodyPr>
          <a:lstStyle/>
          <a:p>
            <a:pPr marL="0" indent="0">
              <a:spcBef>
                <a:spcPct val="20000"/>
              </a:spcBef>
              <a:spcAft>
                <a:spcPts val="600"/>
              </a:spcAft>
              <a:buNone/>
            </a:pPr>
            <a:r>
              <a:rPr lang="en-IN" sz="2200" b="1" dirty="0">
                <a:latin typeface="Franklin Gothic Book"/>
              </a:rPr>
              <a:t>Tools</a:t>
            </a:r>
          </a:p>
          <a:p>
            <a:pPr>
              <a:spcBef>
                <a:spcPct val="20000"/>
              </a:spcBef>
              <a:spcAft>
                <a:spcPts val="600"/>
              </a:spcAft>
            </a:pPr>
            <a:r>
              <a:rPr lang="en-IN" sz="2200" b="1" dirty="0">
                <a:latin typeface="Franklin Gothic Book"/>
              </a:rPr>
              <a:t>Used Power BI Desktop</a:t>
            </a:r>
          </a:p>
          <a:p>
            <a:pPr>
              <a:spcBef>
                <a:spcPct val="20000"/>
              </a:spcBef>
              <a:spcAft>
                <a:spcPts val="600"/>
              </a:spcAft>
            </a:pPr>
            <a:r>
              <a:rPr lang="en-IN" sz="2200" b="1" dirty="0">
                <a:latin typeface="Franklin Gothic Book"/>
              </a:rPr>
              <a:t>Used to create interactive dashboards and visualizations.</a:t>
            </a:r>
          </a:p>
          <a:p>
            <a:pPr marL="0" indent="0">
              <a:spcBef>
                <a:spcPct val="20000"/>
              </a:spcBef>
              <a:spcAft>
                <a:spcPts val="600"/>
              </a:spcAft>
              <a:buNone/>
            </a:pPr>
            <a:r>
              <a:rPr lang="en-IN" sz="2200" b="1" dirty="0">
                <a:latin typeface="Franklin Gothic Book"/>
              </a:rPr>
              <a:t>Dataset</a:t>
            </a:r>
          </a:p>
          <a:p>
            <a:pPr>
              <a:spcBef>
                <a:spcPct val="20000"/>
              </a:spcBef>
              <a:spcAft>
                <a:spcPts val="600"/>
              </a:spcAft>
            </a:pPr>
            <a:r>
              <a:rPr lang="en-IN" sz="2200" b="1" dirty="0">
                <a:latin typeface="Franklin Gothic Book"/>
              </a:rPr>
              <a:t>Crop Recommendation Dataset from Kaggle.</a:t>
            </a:r>
          </a:p>
          <a:p>
            <a:pPr marL="0" indent="0">
              <a:spcBef>
                <a:spcPct val="20000"/>
              </a:spcBef>
              <a:spcAft>
                <a:spcPts val="600"/>
              </a:spcAft>
              <a:buNone/>
            </a:pPr>
            <a:r>
              <a:rPr lang="en-IN" sz="2200" b="1" dirty="0">
                <a:latin typeface="Franklin Gothic Book"/>
              </a:rPr>
              <a:t>Visualization Techniques</a:t>
            </a:r>
          </a:p>
          <a:p>
            <a:pPr>
              <a:spcBef>
                <a:spcPct val="20000"/>
              </a:spcBef>
              <a:spcAft>
                <a:spcPts val="600"/>
              </a:spcAft>
            </a:pPr>
            <a:r>
              <a:rPr lang="en-IN" sz="2200" b="1" dirty="0">
                <a:latin typeface="Franklin Gothic Book"/>
              </a:rPr>
              <a:t>Pie Charts</a:t>
            </a:r>
          </a:p>
          <a:p>
            <a:pPr>
              <a:spcBef>
                <a:spcPct val="20000"/>
              </a:spcBef>
              <a:spcAft>
                <a:spcPts val="600"/>
              </a:spcAft>
            </a:pPr>
            <a:r>
              <a:rPr lang="en-IN" sz="2200" b="1" dirty="0">
                <a:latin typeface="Franklin Gothic Book"/>
              </a:rPr>
              <a:t>Bar Charts</a:t>
            </a:r>
          </a:p>
          <a:p>
            <a:pPr>
              <a:spcBef>
                <a:spcPct val="20000"/>
              </a:spcBef>
              <a:spcAft>
                <a:spcPts val="600"/>
              </a:spcAft>
            </a:pPr>
            <a:r>
              <a:rPr lang="en-IN" sz="2200" b="1" dirty="0">
                <a:latin typeface="Franklin Gothic Book"/>
              </a:rPr>
              <a:t>Column Charts</a:t>
            </a:r>
          </a:p>
          <a:p>
            <a:pPr>
              <a:spcBef>
                <a:spcPct val="20000"/>
              </a:spcBef>
              <a:spcAft>
                <a:spcPts val="600"/>
              </a:spcAft>
            </a:pPr>
            <a:r>
              <a:rPr lang="en-IN" sz="2200" b="1" dirty="0">
                <a:latin typeface="Franklin Gothic Book"/>
              </a:rPr>
              <a:t>Scatter Plot</a:t>
            </a:r>
          </a:p>
          <a:p>
            <a:pPr marL="0" indent="0">
              <a:spcBef>
                <a:spcPct val="20000"/>
              </a:spcBef>
              <a:spcAft>
                <a:spcPts val="600"/>
              </a:spcAft>
              <a:buNone/>
            </a:pPr>
            <a:r>
              <a:rPr lang="en-IN" sz="2200" b="1" dirty="0">
                <a:latin typeface="Franklin Gothic Book"/>
              </a:rPr>
              <a:t>KPI Cards and more.</a:t>
            </a:r>
          </a:p>
          <a:p>
            <a:pPr marL="0" indent="0">
              <a:spcBef>
                <a:spcPct val="20000"/>
              </a:spcBef>
              <a:spcAft>
                <a:spcPts val="600"/>
              </a:spcAft>
              <a:buNone/>
            </a:pPr>
            <a:r>
              <a:rPr lang="en-IN" sz="2200" b="1" dirty="0">
                <a:latin typeface="Franklin Gothic Book"/>
              </a:rPr>
              <a:t>These visualizations help </a:t>
            </a:r>
            <a:r>
              <a:rPr lang="en-IN" sz="2200" b="1" dirty="0" err="1">
                <a:latin typeface="Franklin Gothic Book"/>
              </a:rPr>
              <a:t>analyze</a:t>
            </a:r>
            <a:r>
              <a:rPr lang="en-IN" sz="2200" b="1" dirty="0">
                <a:latin typeface="Franklin Gothic Book"/>
              </a:rPr>
              <a:t> crop distribution and environmental factors affecting crop growth.</a:t>
            </a: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pPr marL="0" marR="0" lvl="0" indent="0" algn="just" defTabSz="914400" rtl="0" eaLnBrk="1" fontAlgn="auto" latinLnBrk="0" hangingPunct="1">
              <a:lnSpc>
                <a:spcPct val="90000"/>
              </a:lnSpc>
              <a:spcBef>
                <a:spcPct val="20000"/>
              </a:spcBef>
              <a:spcAft>
                <a:spcPts val="600"/>
              </a:spcAft>
              <a:buClrTx/>
              <a:buSzTx/>
              <a:buNone/>
              <a:tabLst/>
              <a:defRPr/>
            </a:pPr>
            <a:r>
              <a:rPr kumimoji="0" lang="en-IN" sz="1500" b="1" i="0" u="none" strike="noStrike" kern="1200" cap="none" spc="0" normalizeH="0" baseline="0" noProof="0" dirty="0">
                <a:ln>
                  <a:noFill/>
                </a:ln>
                <a:solidFill>
                  <a:prstClr val="black"/>
                </a:solidFill>
                <a:effectLst/>
                <a:uLnTx/>
                <a:uFillTx/>
                <a:latin typeface="Franklin Gothic Book" panose="020B0503020102020204"/>
                <a:ea typeface="+mn-ea"/>
                <a:cs typeface="+mn-cs"/>
              </a:rPr>
              <a:t>Algorithm Selection:</a:t>
            </a:r>
            <a:endParaRPr kumimoji="0" lang="en-IN" sz="15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a:p>
            <a:pPr marL="629920" marR="0" lvl="1" indent="-305435" algn="just" defTabSz="914400" rtl="0" eaLnBrk="1" fontAlgn="auto" latinLnBrk="0" hangingPunct="1">
              <a:lnSpc>
                <a:spcPct val="90000"/>
              </a:lnSpc>
              <a:spcBef>
                <a:spcPct val="20000"/>
              </a:spcBef>
              <a:spcAft>
                <a:spcPts val="600"/>
              </a:spcAft>
              <a:buClrTx/>
              <a:buSzTx/>
              <a:buFont typeface="Arial" panose="020B0604020202020204"/>
              <a:buChar char="•"/>
              <a:tabLst/>
              <a:defRPr/>
            </a:pPr>
            <a:r>
              <a:rPr kumimoji="0" lang="en-US" sz="1500" b="0" i="0" u="none" strike="noStrike" kern="1200" cap="none" spc="0" normalizeH="0" baseline="0" noProof="0" dirty="0">
                <a:ln>
                  <a:noFill/>
                </a:ln>
                <a:solidFill>
                  <a:prstClr val="black"/>
                </a:solidFill>
                <a:effectLst/>
                <a:uLnTx/>
                <a:uFillTx/>
                <a:latin typeface="Franklin Gothic Book" panose="020B0503020102020204"/>
                <a:ea typeface="+mn-ea"/>
                <a:cs typeface="+mn-cs"/>
              </a:rPr>
              <a:t>This project uses data analysis and visualization techniques in Power BI instead of machine learning algorithms. The goal is to analyze relationships between environmental factors and crop types to understand crop suitability under different conditions</a:t>
            </a:r>
            <a:r>
              <a:rPr kumimoji="0" lang="en-IN" sz="15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p>
          <a:p>
            <a:pPr marL="0" marR="0" lvl="0" indent="0" algn="just" defTabSz="914400" rtl="0" eaLnBrk="1" fontAlgn="auto" latinLnBrk="0" hangingPunct="1">
              <a:lnSpc>
                <a:spcPct val="90000"/>
              </a:lnSpc>
              <a:spcBef>
                <a:spcPct val="20000"/>
              </a:spcBef>
              <a:spcAft>
                <a:spcPts val="600"/>
              </a:spcAft>
              <a:buClrTx/>
              <a:buSzTx/>
              <a:buNone/>
              <a:tabLst/>
              <a:defRPr/>
            </a:pPr>
            <a:r>
              <a:rPr kumimoji="0" lang="en-IN" sz="1500" b="1" i="0" u="none" strike="noStrike" kern="1200" cap="none" spc="0" normalizeH="0" baseline="0" noProof="0" dirty="0">
                <a:ln>
                  <a:noFill/>
                </a:ln>
                <a:solidFill>
                  <a:prstClr val="black"/>
                </a:solidFill>
                <a:effectLst/>
                <a:uLnTx/>
                <a:uFillTx/>
                <a:latin typeface="Franklin Gothic Book" panose="020B0503020102020204"/>
                <a:ea typeface="+mn-ea"/>
                <a:cs typeface="+mn-cs"/>
              </a:rPr>
              <a:t>Data Input:</a:t>
            </a:r>
            <a:endParaRPr kumimoji="0" lang="en-IN" sz="15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a:p>
            <a:pPr marL="629920" marR="0" lvl="1" indent="-305435" algn="just" defTabSz="914400" rtl="0" eaLnBrk="1" fontAlgn="auto" latinLnBrk="0" hangingPunct="1">
              <a:lnSpc>
                <a:spcPct val="90000"/>
              </a:lnSpc>
              <a:spcBef>
                <a:spcPct val="20000"/>
              </a:spcBef>
              <a:spcAft>
                <a:spcPts val="600"/>
              </a:spcAft>
              <a:buClrTx/>
              <a:buSzTx/>
              <a:buFont typeface="Arial" panose="020B0604020202020204"/>
              <a:buChar char="•"/>
              <a:tabLst/>
              <a:defRPr/>
            </a:pPr>
            <a:r>
              <a:rPr kumimoji="0" lang="en-IN" sz="1500" b="0" i="0" u="none" strike="noStrike" kern="1200" cap="none" spc="0" normalizeH="0" baseline="0" noProof="0" dirty="0">
                <a:ln>
                  <a:noFill/>
                </a:ln>
                <a:solidFill>
                  <a:prstClr val="black"/>
                </a:solidFill>
                <a:effectLst/>
                <a:uLnTx/>
                <a:uFillTx/>
                <a:latin typeface="Franklin Gothic Book" panose="020B0503020102020204"/>
                <a:ea typeface="+mn-ea"/>
                <a:cs typeface="+mn-cs"/>
              </a:rPr>
              <a:t>The dataset contains agricultural parameters such as Nitrogen (N), Phosphorus (P), Potassium (K), temperature, humidity, rainfall, soil pH, and crop label. These features represent environmental and soil conditions required for different crops.</a:t>
            </a:r>
          </a:p>
          <a:p>
            <a:pPr marL="0" marR="0" lvl="0" indent="0" algn="just" defTabSz="914400" rtl="0" eaLnBrk="1" fontAlgn="auto" latinLnBrk="0" hangingPunct="1">
              <a:lnSpc>
                <a:spcPct val="90000"/>
              </a:lnSpc>
              <a:spcBef>
                <a:spcPct val="20000"/>
              </a:spcBef>
              <a:spcAft>
                <a:spcPts val="600"/>
              </a:spcAft>
              <a:buClrTx/>
              <a:buSzTx/>
              <a:buNone/>
              <a:tabLst/>
              <a:defRPr/>
            </a:pPr>
            <a:r>
              <a:rPr kumimoji="0" lang="en-IN" sz="1500" b="1" i="0" u="none" strike="noStrike" kern="1200" cap="none" spc="0" normalizeH="0" baseline="0" noProof="0" dirty="0">
                <a:ln>
                  <a:noFill/>
                </a:ln>
                <a:solidFill>
                  <a:prstClr val="black"/>
                </a:solidFill>
                <a:effectLst/>
                <a:uLnTx/>
                <a:uFillTx/>
                <a:latin typeface="Franklin Gothic Book" panose="020B0503020102020204"/>
                <a:ea typeface="+mn-ea"/>
                <a:cs typeface="+mn-cs"/>
              </a:rPr>
              <a:t>Training Process:</a:t>
            </a:r>
            <a:endParaRPr kumimoji="0" lang="en-IN" sz="15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a:p>
            <a:pPr marL="629920" marR="0" lvl="1" indent="-305435" algn="just" defTabSz="914400" rtl="0" eaLnBrk="1" fontAlgn="auto" latinLnBrk="0" hangingPunct="1">
              <a:lnSpc>
                <a:spcPct val="90000"/>
              </a:lnSpc>
              <a:spcBef>
                <a:spcPct val="20000"/>
              </a:spcBef>
              <a:spcAft>
                <a:spcPts val="600"/>
              </a:spcAft>
              <a:buClrTx/>
              <a:buSzTx/>
              <a:buFont typeface="Arial" panose="020B0604020202020204"/>
              <a:buChar char="•"/>
              <a:tabLst/>
              <a:defRPr/>
            </a:pPr>
            <a:r>
              <a:rPr kumimoji="0" lang="en-US" sz="1500" b="0" i="0" u="none" strike="noStrike" kern="1200" cap="none" spc="0" normalizeH="0" baseline="0" noProof="0" dirty="0">
                <a:ln>
                  <a:noFill/>
                </a:ln>
                <a:solidFill>
                  <a:prstClr val="black"/>
                </a:solidFill>
                <a:effectLst/>
                <a:uLnTx/>
                <a:uFillTx/>
                <a:latin typeface="Franklin Gothic Book" panose="020B0503020102020204"/>
                <a:ea typeface="+mn-ea"/>
                <a:cs typeface="+mn-cs"/>
              </a:rPr>
              <a:t>The dataset is imported into Power BI, where the data is cleaned and processed. Aggregation techniques such as averages are used to analyze environmental factors and generate meaningful visual insights</a:t>
            </a:r>
            <a:r>
              <a:rPr kumimoji="0" lang="en-IN" sz="15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p>
          <a:p>
            <a:pPr marL="0" marR="0" lvl="0" indent="0" algn="just" defTabSz="914400" rtl="0" eaLnBrk="1" fontAlgn="auto" latinLnBrk="0" hangingPunct="1">
              <a:lnSpc>
                <a:spcPct val="90000"/>
              </a:lnSpc>
              <a:spcBef>
                <a:spcPct val="20000"/>
              </a:spcBef>
              <a:spcAft>
                <a:spcPts val="600"/>
              </a:spcAft>
              <a:buClrTx/>
              <a:buSzTx/>
              <a:buNone/>
              <a:tabLst/>
              <a:defRPr/>
            </a:pPr>
            <a:r>
              <a:rPr kumimoji="0" lang="en-IN" sz="1500" b="1" i="0" u="none" strike="noStrike" kern="1200" cap="none" spc="0" normalizeH="0" baseline="0" noProof="0" dirty="0">
                <a:ln>
                  <a:noFill/>
                </a:ln>
                <a:solidFill>
                  <a:prstClr val="black"/>
                </a:solidFill>
                <a:effectLst/>
                <a:uLnTx/>
                <a:uFillTx/>
                <a:latin typeface="Franklin Gothic Book" panose="020B0503020102020204"/>
                <a:ea typeface="+mn-ea"/>
                <a:cs typeface="+mn-cs"/>
              </a:rPr>
              <a:t>Prediction Process:</a:t>
            </a:r>
            <a:endParaRPr kumimoji="0" lang="en-IN" sz="15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a:p>
            <a:pPr marL="629920" marR="0" lvl="1" indent="-305435" algn="just" defTabSz="914400" rtl="0" eaLnBrk="1" fontAlgn="auto" latinLnBrk="0" hangingPunct="1">
              <a:lnSpc>
                <a:spcPct val="90000"/>
              </a:lnSpc>
              <a:spcBef>
                <a:spcPct val="20000"/>
              </a:spcBef>
              <a:spcAft>
                <a:spcPts val="600"/>
              </a:spcAft>
              <a:buClrTx/>
              <a:buSzTx/>
              <a:buFont typeface="Arial" panose="020B0604020202020204"/>
              <a:buChar char="•"/>
              <a:tabLst/>
              <a:defRPr/>
            </a:pPr>
            <a:r>
              <a:rPr kumimoji="0" lang="en-US" sz="1500" b="0" i="0" u="none" strike="noStrike" kern="1200" cap="none" spc="0" normalizeH="0" baseline="0" noProof="0" dirty="0">
                <a:ln>
                  <a:noFill/>
                </a:ln>
                <a:solidFill>
                  <a:prstClr val="black"/>
                </a:solidFill>
                <a:effectLst/>
                <a:uLnTx/>
                <a:uFillTx/>
                <a:latin typeface="Franklin Gothic Book" panose="020B0503020102020204"/>
                <a:ea typeface="+mn-ea"/>
                <a:cs typeface="+mn-cs"/>
              </a:rPr>
              <a:t>The system analyzes patterns between environmental factors and crop types using interactive charts and visualizations. These visualizations help identify suitable environmental conditions for different crops and support better agricultural decision-making.</a:t>
            </a:r>
            <a:endParaRPr kumimoji="0" lang="en-GB" sz="15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6" y="1584102"/>
            <a:ext cx="11269146" cy="4294183"/>
          </a:xfrm>
        </p:spPr>
        <p:txBody>
          <a:bodyPr vert="horz" lIns="91440" tIns="45720" rIns="91440" bIns="45720" rtlCol="0">
            <a:normAutofit/>
          </a:bodyPr>
          <a:lstStyle/>
          <a:p>
            <a:pPr marL="0" indent="0" algn="just">
              <a:buNone/>
            </a:pPr>
            <a:r>
              <a:rPr lang="en-US" sz="2200" dirty="0">
                <a:latin typeface="Franklin Gothic Book"/>
              </a:rPr>
              <a:t>The Power BI dashboard presents visual insights into crop suitability based on environmental and soil parameters such as temperature, rainfall, humidity, soil nutrients, and soil </a:t>
            </a:r>
            <a:r>
              <a:rPr lang="en-US" sz="2200" dirty="0" err="1">
                <a:latin typeface="Franklin Gothic Book"/>
              </a:rPr>
              <a:t>pH.</a:t>
            </a:r>
            <a:r>
              <a:rPr lang="en-US" sz="2200" dirty="0">
                <a:latin typeface="Franklin Gothic Book"/>
              </a:rPr>
              <a:t> The visualizations help identify patterns and relationships between climate conditions and different crops. These insights support better understanding of environmental requirements for crop growth and assist in agricultural decision-making.</a:t>
            </a:r>
          </a:p>
          <a:p>
            <a:pPr marL="0" indent="0" algn="just">
              <a:buNone/>
            </a:pPr>
            <a:r>
              <a:rPr lang="en-IN" sz="2200" dirty="0">
                <a:latin typeface="Franklin Gothic Book"/>
              </a:rPr>
              <a:t>GitHub Link:</a:t>
            </a:r>
            <a:r>
              <a:rPr lang="en-IN" sz="2200" dirty="0">
                <a:solidFill>
                  <a:srgbClr val="0070C0"/>
                </a:solidFill>
                <a:latin typeface="Franklin Gothic Book"/>
              </a:rPr>
              <a:t> </a:t>
            </a:r>
            <a:r>
              <a:rPr lang="en-IN" sz="2200" dirty="0">
                <a:solidFill>
                  <a:srgbClr val="0070C0"/>
                </a:solidFill>
                <a:latin typeface="Franklin Gothic Book"/>
                <a:hlinkClick r:id="rId2"/>
              </a:rPr>
              <a:t>https://github.com/cpushpalatha9/Crop-Recommendation-PowerBI-Dashboard.git</a:t>
            </a:r>
            <a:endParaRPr lang="en-IN" sz="2200" dirty="0">
              <a:solidFill>
                <a:srgbClr val="0070C0"/>
              </a:solidFill>
              <a:latin typeface="Franklin Gothic Book"/>
            </a:endParaRPr>
          </a:p>
          <a:p>
            <a:pPr marL="0" indent="0">
              <a:buNone/>
            </a:pPr>
            <a:r>
              <a:rPr lang="en-IN" sz="2200" dirty="0">
                <a:latin typeface="Franklin Gothic Book"/>
              </a:rPr>
              <a:t>Dataset Link: </a:t>
            </a:r>
            <a:r>
              <a:rPr lang="en-IN" sz="2400" dirty="0">
                <a:hlinkClick r:id="rId3"/>
              </a:rPr>
              <a:t>https://www.kaggle.com/datasets/siddharthss/crop-recommendation-dataset</a:t>
            </a:r>
            <a:endParaRPr lang="en-IN" sz="2400" dirty="0"/>
          </a:p>
          <a:p>
            <a:pPr marL="0" indent="0">
              <a:buNone/>
            </a:pPr>
            <a:endParaRPr lang="en-IN" sz="2200" u="sng" dirty="0">
              <a:solidFill>
                <a:srgbClr val="0070C0"/>
              </a:solidFill>
              <a:latin typeface="Franklin Gothic Book"/>
            </a:endParaRPr>
          </a:p>
          <a:p>
            <a:pPr marL="0" indent="0" algn="just">
              <a:buNone/>
            </a:pPr>
            <a:endParaRPr lang="en-US" sz="2200" dirty="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98FCAB-3473-55E9-1293-BFFE3719C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51AD3-526D-DCDD-F091-D1552A10A9E1}"/>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a16="http://schemas.microsoft.com/office/drawing/2014/main" id="{D4581E38-7C94-7C56-5C7E-DFBC49A3DCC5}"/>
              </a:ext>
            </a:extLst>
          </p:cNvPr>
          <p:cNvSpPr>
            <a:spLocks noGrp="1"/>
          </p:cNvSpPr>
          <p:nvPr>
            <p:ph idx="1"/>
          </p:nvPr>
        </p:nvSpPr>
        <p:spPr>
          <a:xfrm>
            <a:off x="246069" y="1378307"/>
            <a:ext cx="9131196" cy="550506"/>
          </a:xfrm>
        </p:spPr>
        <p:txBody>
          <a:bodyPr vert="horz" lIns="91440" tIns="45720" rIns="91440" bIns="45720" rtlCol="0">
            <a:normAutofit/>
          </a:bodyPr>
          <a:lstStyle/>
          <a:p>
            <a:pPr marL="0" indent="0" algn="just">
              <a:buNone/>
            </a:pPr>
            <a:r>
              <a:rPr lang="en-US" sz="2200" dirty="0"/>
              <a:t>Crop Recommendation and Climate Analysis using Power BI</a:t>
            </a:r>
          </a:p>
        </p:txBody>
      </p:sp>
      <p:pic>
        <p:nvPicPr>
          <p:cNvPr id="9" name="Picture 8">
            <a:extLst>
              <a:ext uri="{FF2B5EF4-FFF2-40B4-BE49-F238E27FC236}">
                <a16:creationId xmlns:a16="http://schemas.microsoft.com/office/drawing/2014/main" id="{C6F82402-19B1-84C9-D927-BA9DF30F85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069" y="1928813"/>
            <a:ext cx="11510865" cy="4419243"/>
          </a:xfrm>
          <a:prstGeom prst="rect">
            <a:avLst/>
          </a:prstGeom>
        </p:spPr>
      </p:pic>
    </p:spTree>
    <p:extLst>
      <p:ext uri="{BB962C8B-B14F-4D97-AF65-F5344CB8AC3E}">
        <p14:creationId xmlns:p14="http://schemas.microsoft.com/office/powerpoint/2010/main" val="2219672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610F53-20D3-CF4F-8492-2DCA50342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DDE4F-73CA-B3E4-89E4-2A33C1DA1C0D}"/>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a16="http://schemas.microsoft.com/office/drawing/2014/main" id="{95047666-C2AE-75A3-E05C-9C07B940E7CA}"/>
              </a:ext>
            </a:extLst>
          </p:cNvPr>
          <p:cNvSpPr>
            <a:spLocks noGrp="1"/>
          </p:cNvSpPr>
          <p:nvPr>
            <p:ph idx="1"/>
          </p:nvPr>
        </p:nvSpPr>
        <p:spPr>
          <a:xfrm>
            <a:off x="246069" y="1378307"/>
            <a:ext cx="9131196" cy="550506"/>
          </a:xfrm>
        </p:spPr>
        <p:txBody>
          <a:bodyPr vert="horz" lIns="91440" tIns="45720" rIns="91440" bIns="45720" rtlCol="0">
            <a:normAutofit/>
          </a:bodyPr>
          <a:lstStyle/>
          <a:p>
            <a:pPr marL="0" indent="0" algn="just">
              <a:buNone/>
            </a:pPr>
            <a:r>
              <a:rPr lang="en-US" sz="2200" dirty="0"/>
              <a:t>Crop Recommendation and Climate Analysis using Power BI</a:t>
            </a:r>
          </a:p>
        </p:txBody>
      </p:sp>
      <p:pic>
        <p:nvPicPr>
          <p:cNvPr id="9" name="Picture 8">
            <a:extLst>
              <a:ext uri="{FF2B5EF4-FFF2-40B4-BE49-F238E27FC236}">
                <a16:creationId xmlns:a16="http://schemas.microsoft.com/office/drawing/2014/main" id="{5D5AB1B5-7826-3268-06F2-50B38332134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2555" y="1928813"/>
            <a:ext cx="11461783" cy="4419243"/>
          </a:xfrm>
          <a:prstGeom prst="rect">
            <a:avLst/>
          </a:prstGeom>
        </p:spPr>
      </p:pic>
    </p:spTree>
    <p:extLst>
      <p:ext uri="{BB962C8B-B14F-4D97-AF65-F5344CB8AC3E}">
        <p14:creationId xmlns:p14="http://schemas.microsoft.com/office/powerpoint/2010/main" val="246508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BA7FA0-2827-38E8-A5E5-0516E2301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0A71E-25C6-E704-6280-9863996E7BCB}"/>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a16="http://schemas.microsoft.com/office/drawing/2014/main" id="{A91FFEFA-3109-E25E-F126-E63AC3F0E495}"/>
              </a:ext>
            </a:extLst>
          </p:cNvPr>
          <p:cNvSpPr>
            <a:spLocks noGrp="1"/>
          </p:cNvSpPr>
          <p:nvPr>
            <p:ph idx="1"/>
          </p:nvPr>
        </p:nvSpPr>
        <p:spPr>
          <a:xfrm>
            <a:off x="246069" y="1378307"/>
            <a:ext cx="9131196" cy="550506"/>
          </a:xfrm>
        </p:spPr>
        <p:txBody>
          <a:bodyPr vert="horz" lIns="91440" tIns="45720" rIns="91440" bIns="45720" rtlCol="0">
            <a:normAutofit/>
          </a:bodyPr>
          <a:lstStyle/>
          <a:p>
            <a:pPr marL="0" indent="0" algn="just">
              <a:buNone/>
            </a:pPr>
            <a:r>
              <a:rPr lang="en-US" sz="2200" dirty="0"/>
              <a:t>Crop Recommendation and Climate Analysis using Power BI</a:t>
            </a:r>
          </a:p>
        </p:txBody>
      </p:sp>
      <p:pic>
        <p:nvPicPr>
          <p:cNvPr id="9" name="Picture 8">
            <a:extLst>
              <a:ext uri="{FF2B5EF4-FFF2-40B4-BE49-F238E27FC236}">
                <a16:creationId xmlns:a16="http://schemas.microsoft.com/office/drawing/2014/main" id="{C7C6013C-AAA7-224E-5463-B6594EE37B7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6069" y="1928813"/>
            <a:ext cx="11491841" cy="4419243"/>
          </a:xfrm>
          <a:prstGeom prst="rect">
            <a:avLst/>
          </a:prstGeom>
        </p:spPr>
      </p:pic>
    </p:spTree>
    <p:extLst>
      <p:ext uri="{BB962C8B-B14F-4D97-AF65-F5344CB8AC3E}">
        <p14:creationId xmlns:p14="http://schemas.microsoft.com/office/powerpoint/2010/main" val="2882745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lgn="just">
              <a:buNone/>
            </a:pPr>
            <a:r>
              <a:rPr lang="en-US" sz="2200" dirty="0">
                <a:latin typeface="Franklin Gothic Book"/>
              </a:rPr>
              <a:t>The project analyzes environmental factors such as temperature, rainfall, humidity, soil nutrients, and soil pH to understand crop suitability. The Power BI dashboard effectively visualizes the relationships between these factors and different crop types, helping identify suitable environmental conditions for crop growth. This analysis supports better agricultural planning and data-driven decision making in farming.</a:t>
            </a: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lgn="just">
              <a:spcBef>
                <a:spcPct val="20000"/>
              </a:spcBef>
              <a:spcAft>
                <a:spcPts val="600"/>
              </a:spcAft>
              <a:buNone/>
            </a:pPr>
            <a:r>
              <a:rPr lang="en-US" sz="2200" dirty="0">
                <a:latin typeface="Franklin Gothic Book"/>
              </a:rPr>
              <a:t>The system can be improved by integrating real-time weather and soil data to enhance crop analysis. Advanced technologies such as machine learning models can be applied to automatically recommend suitable crops based on environmental conditions. The dashboard can also be expanded to cover multiple regions to support large-scale agricultural planning and decision-making.</a:t>
            </a: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Kaggle – Crop Recommendation Dataset </a:t>
            </a:r>
            <a:r>
              <a:rPr lang="en-IN" sz="2200" dirty="0">
                <a:latin typeface="Franklin Gothic Book"/>
                <a:hlinkClick r:id="rId2"/>
              </a:rPr>
              <a:t>https://www.kaggle.com/datasets/siddharthss/crop-recommendation-dataset</a:t>
            </a:r>
            <a:endParaRPr lang="en-IN" sz="2200" dirty="0">
              <a:latin typeface="Franklin Gothic Book"/>
            </a:endParaRPr>
          </a:p>
          <a:p>
            <a:pPr marL="0" indent="0">
              <a:buNone/>
            </a:pPr>
            <a:r>
              <a:rPr lang="en-IN" sz="2200" dirty="0">
                <a:latin typeface="Franklin Gothic Book"/>
              </a:rPr>
              <a:t>(Dataset used for crop and environmental data analysis.)</a:t>
            </a:r>
          </a:p>
          <a:p>
            <a:pPr marL="0" indent="0">
              <a:buNone/>
            </a:pPr>
            <a:r>
              <a:rPr lang="en-IN" sz="2200" dirty="0">
                <a:latin typeface="Franklin Gothic Book"/>
              </a:rPr>
              <a:t>Microsoft Power BI Documentation</a:t>
            </a:r>
          </a:p>
          <a:p>
            <a:pPr marL="0" indent="0">
              <a:buNone/>
            </a:pPr>
            <a:r>
              <a:rPr lang="en-IN" sz="2200" dirty="0">
                <a:latin typeface="Franklin Gothic Book"/>
                <a:hlinkClick r:id="rId3"/>
              </a:rPr>
              <a:t>https://learn.microsoft.com/power-bi/</a:t>
            </a:r>
            <a:endParaRPr lang="en-IN" sz="2200" dirty="0">
              <a:latin typeface="Franklin Gothic Book"/>
            </a:endParaRPr>
          </a:p>
          <a:p>
            <a:pPr marL="0" indent="0">
              <a:buNone/>
            </a:pPr>
            <a:r>
              <a:rPr lang="en-IN" sz="2200" dirty="0">
                <a:latin typeface="Franklin Gothic Book"/>
              </a:rPr>
              <a:t>(Used for understanding Power BI visualization and dashboard creation.)</a:t>
            </a:r>
          </a:p>
          <a:p>
            <a:pPr marL="0" indent="0">
              <a:buNone/>
            </a:pPr>
            <a:r>
              <a:rPr lang="en-IN" sz="2200" dirty="0">
                <a:latin typeface="Franklin Gothic Book"/>
              </a:rPr>
              <a:t>Microsoft AI Skills Navigator / Elevate AICTE Internship Resourceshttps://aiskillsnavigator.microsoft.com(Learning materials used during the internship program.)</a:t>
            </a:r>
          </a:p>
          <a:p>
            <a:pPr marL="0" indent="0">
              <a:buNone/>
            </a:pP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990</Words>
  <Application>Microsoft Office PowerPoint</Application>
  <PresentationFormat>Widescreen</PresentationFormat>
  <Paragraphs>82</Paragraphs>
  <Slides>14</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Result:</vt:lpstr>
      <vt:lpstr>Result: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C MOHAN RAAJ</cp:lastModifiedBy>
  <cp:revision>105</cp:revision>
  <dcterms:created xsi:type="dcterms:W3CDTF">2024-05-21T11:55:07Z</dcterms:created>
  <dcterms:modified xsi:type="dcterms:W3CDTF">2026-03-15T14:11:39Z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